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806067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806067"/>
                </a:solidFill>
                <a:latin typeface="Calibri"/>
              </a:rPr>
              <a:t>Faktisk brugte hjørneradier — 1.088 målte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Forekomster</c:v>
                </c:pt>
              </c:strCache>
            </c:strRef>
          </c:tx>
          <c:spPr>
            <a:solidFill>
              <a:srgbClr val="55252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55252F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32 px</c:v>
                  </c:pt>
                  <c:pt idx="1">
                    <c:v>16 px</c:v>
                  </c:pt>
                  <c:pt idx="2">
                    <c:v>100 %</c:v>
                  </c:pt>
                  <c:pt idx="3">
                    <c:v>8 px</c:v>
                  </c:pt>
                  <c:pt idx="4">
                    <c:v>12 px</c:v>
                  </c:pt>
                  <c:pt idx="5">
                    <c:v>24 px</c:v>
                  </c:pt>
                  <c:pt idx="6">
                    <c:v>4 px</c:v>
                  </c:pt>
                  <c:pt idx="7">
                    <c:v>6 px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247</c:v>
                </c:pt>
                <c:pt idx="1">
                  <c:v>159</c:v>
                </c:pt>
                <c:pt idx="2">
                  <c:v>143</c:v>
                </c:pt>
                <c:pt idx="3">
                  <c:v>119</c:v>
                </c:pt>
                <c:pt idx="4">
                  <c:v>105</c:v>
                </c:pt>
                <c:pt idx="5">
                  <c:v>88</c:v>
                </c:pt>
                <c:pt idx="6">
                  <c:v>62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55252F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5252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ED3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06067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5F1"/>
        </a:solidFill>
        <a:ln>
          <a:noFill/>
        </a:ln>
        <a:effectLst/>
      </c:spPr>
    </c:plotArea>
    <c:plotVisOnly val="1"/>
    <c:dispBlanksAs val="span"/>
  </c:chart>
  <c:spPr>
    <a:solidFill>
      <a:srgbClr val="F6F5F1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Formålet: en fair, målt gennemgang af hele sitet mod bankens to brandokumenter. Alle tal er talt, ikke skønnet.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Pointen: det er ikke ligegyldighed. Fundamentet er lagt rigtigt — det er brugen, der ikke er slået igennem.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seks tal er talt i produktionen, ikke skønnet. Farve- og formtallene dækker 12 repræsentative sider.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 A måler sidernes egen tekst: overskrifter, brødtekst, knap-etiketter, sidetitler og metabeskrivelser.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Dette er rapportens tungeste enkeltfund, fordi kilden selv udpeger sætningen som problemet.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22 produktnavne er en formiddags arbejde og den enkeltrettelse, der flytter mest per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personality: sidernes egen stemme er ofte god, men SEO-laget taler som en låneformidler.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Nuance: den globale menu bærer nummeret på alle sider. Fundet er, at rådgiveren aldrig kommer ind i sidens egen tekst.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Formularerne blev hentet direkte fra etrack1 for at kunne vurderes — de findes ikke i sidernes egen HTML.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Kontrasttabellen er rapportens forsvar mod argumentet om digitale begrænsninger.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Vær præcis: 6 px-reglen gælder billedbokse og farvede kasser, ikke knapper.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Dette er rapportens største enkeltstående brud, fordi det er en flade helt uden for designsystemet.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5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7772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BRANDREVISION · COOP BANK · SEPTEMBER 2026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325880"/>
            <a:ext cx="7863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Følger coopbank.dk</a:t>
            </a:r>
            <a:endParaRPr lang="en-US" sz="44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vores egen designguide</a:t>
            </a:r>
            <a:endParaRPr lang="en-US" sz="4400" dirty="0"/>
          </a:p>
          <a:p>
            <a:pPr indent="0" marL="0">
              <a:lnSpc>
                <a:spcPct val="96000"/>
              </a:lnSpc>
              <a:buNone/>
            </a:pPr>
            <a:r>
              <a:rPr lang="en-US" sz="44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og tone of voice?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411480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418 sider målt mod Design guidelines (36 sider) og Tone of voice (9 slides). Sitet er hentet 8. september 2026.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4983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3D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418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5541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sider gennemgået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264408" y="4983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3D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3264408" y="5541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i alt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61888" y="498348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3D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255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5961888" y="554126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verificerede tekststeder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052560" y="14173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C31414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4173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55252F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0" y="14173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F6F5F1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84280" y="141732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EDEBE3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52560" y="21945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C4BEF4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29800" y="21945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779FFD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07040" y="2194560"/>
            <a:ext cx="658368" cy="658368"/>
          </a:xfrm>
          <a:prstGeom prst="roundRect">
            <a:avLst>
              <a:gd name="adj" fmla="val 8333"/>
            </a:avLst>
          </a:prstGeom>
          <a:solidFill>
            <a:srgbClr val="63D78C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52560" y="30358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Guidens 7 identitetsfarver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HOVEDKONKLUSION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Kort svar: nej — men det er ikke ligegyldighed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11055096" cy="1298448"/>
          </a:xfrm>
          <a:prstGeom prst="roundRect">
            <a:avLst>
              <a:gd name="adj" fmla="val 4225"/>
            </a:avLst>
          </a:prstGeom>
          <a:solidFill>
            <a:srgbClr val="EDEBE3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65960"/>
            <a:ext cx="10579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SÅDAN STÅR DET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95144"/>
            <a:ext cx="10579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„Guiden er implementeret som mulighed frem for som standard — og de vigtigste øjeblikke ligger uden for systemet."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3337560"/>
            <a:ext cx="347776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3566160"/>
            <a:ext cx="457200" cy="457200"/>
          </a:xfrm>
          <a:prstGeom prst="ellipse">
            <a:avLst/>
          </a:prstGeom>
          <a:solidFill>
            <a:srgbClr val="5525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4169664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Boligområdets budskab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4608576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/bolig bruger ordret den sætning, tone of voice-oplægget udpeger som problemet. Rådgivningen findes — 1.400 px længere nede.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55592" y="3337560"/>
            <a:ext cx="347776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93336" y="3566160"/>
            <a:ext cx="457200" cy="457200"/>
          </a:xfrm>
          <a:prstGeom prst="ellipse">
            <a:avLst/>
          </a:prstGeom>
          <a:solidFill>
            <a:srgbClr val="5525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93336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4593336" y="4169664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gamle SEO-lag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93336" y="4608576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Produktlandingssiderne under /laan/, 45 sidetitler og 102 metabeskrivelser med klikmarkører som » og „Klik her".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44256" y="3337560"/>
            <a:ext cx="3477768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82000" y="3566160"/>
            <a:ext cx="457200" cy="457200"/>
          </a:xfrm>
          <a:prstGeom prst="ellipse">
            <a:avLst/>
          </a:prstGeom>
          <a:solidFill>
            <a:srgbClr val="5525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820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382000" y="4169664"/>
            <a:ext cx="3002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Systemet og formularerne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82000" y="4608576"/>
            <a:ext cx="3002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Guidens farve-, skrift- og formregler er oprettet i Webflow, men ikke taget i brug. Formularerne ligger helt uden for.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Tonen er stærkest dér, hvor der er skrevet nyt: forsiden, kategorisiderne og „Om Coop Bank" rammer budskabshierarkiet præcist.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NØGLETAL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Seks tal, resten af rapporten hviler på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50215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7510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0,6 %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87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 i Coop Bordeaux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862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af 2.373 målte tekstelementer. Guiden: bordeaux er den primære skriftfarve.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0215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62856" y="197510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562856" y="2587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Flader i Pampas / Satin Linen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562856" y="2862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På tværs af 12 renderede sider. I stedet hvid og kølig grå #f5f5f6.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119872" y="1828800"/>
            <a:ext cx="350215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39328" y="1975104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339328" y="258775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Hjørner med 6 px radius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339328" y="286207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Guidens ene præcise formregel. I brug er 32, 24, 16, 12, 10, 8 og 4 px.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639312"/>
            <a:ext cx="350215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86384" y="378561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" y="43982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Farver i designsystemet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786384" y="46725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Guiden definerer 7. De 25 af de 39 ligger uden for paletten.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43400" y="3639312"/>
            <a:ext cx="350215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62856" y="378561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22" name="Text 20"/>
          <p:cNvSpPr txBox="1"/>
          <p:nvPr/>
        </p:nvSpPr>
        <p:spPr>
          <a:xfrm>
            <a:off x="4562856" y="43982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Sider med pris som overskrift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562856" y="46725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5,5 % af sitet har pris, bonus eller „bedst i test" i H1.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19872" y="3639312"/>
            <a:ext cx="3502152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39328" y="3785616"/>
            <a:ext cx="3063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4398264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Skrifttyper i brug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339328" y="467258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Porteron på sitet, Proxima Nova i formularerne, en tredje i widgets.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Målegrundlag: Webflows kompilerede CSS (141 variabler) og browserens faktiske beregnede stilarter på 12 sider desktop og 5 mobil.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55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659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40" kern="0" dirty="0">
                <a:solidFill>
                  <a:srgbClr val="63D7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Tone of voice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fund · 2 kritiske · 255 verificerede tekststeder på 195 sider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2103120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3C1A21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01584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TONEN ER DEFINERET SOM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01584" y="2697480"/>
            <a:ext cx="3291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63D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Varm</a:t>
            </a:r>
            <a:endParaRPr lang="en-US" sz="2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63D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Nærværende</a:t>
            </a:r>
            <a:endParaRPr lang="en-US" sz="25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63D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Empatisk</a:t>
            </a:r>
            <a:endParaRPr lang="en-US" sz="2500" dirty="0"/>
          </a:p>
        </p:txBody>
      </p:sp>
      <p:sp>
        <p:nvSpPr>
          <p:cNvPr id="8" name="Text 6"/>
          <p:cNvSpPr txBox="1"/>
          <p:nvPr/>
        </p:nvSpPr>
        <p:spPr>
          <a:xfrm>
            <a:off x="8101584" y="4023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voice, slide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· KRITISK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Boligområdet siger præcis det, oplægget beder os vende om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783080"/>
            <a:ext cx="5486400" cy="2286000"/>
          </a:xfrm>
          <a:prstGeom prst="roundRect">
            <a:avLst>
              <a:gd name="adj" fmla="val 2400"/>
            </a:avLst>
          </a:prstGeom>
          <a:solidFill>
            <a:srgbClr val="EDEBE3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65960"/>
            <a:ext cx="5010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VOICE, SLIDE 2 — PROBLEMET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295144"/>
            <a:ext cx="501091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„Det vi kommunikerer i dag: Det skal være billigt at være boligejer."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666744"/>
            <a:ext cx="5010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Konklusion samme slide: „Kommunikationen skal vendes om."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19088" y="1783080"/>
            <a:ext cx="5239512" cy="2286000"/>
          </a:xfrm>
          <a:prstGeom prst="roundRect">
            <a:avLst>
              <a:gd name="adj" fmla="val 2400"/>
            </a:avLst>
          </a:prstGeom>
          <a:solidFill>
            <a:srgbClr val="C31414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56832" y="1965960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COOPBANK.DK/BOLIG I DAG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656832" y="2295144"/>
            <a:ext cx="476402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„Det skal være billigt at være boligejer"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656832" y="3666744"/>
            <a:ext cx="4764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FF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H1, SEO-titel og eneste budskab i hero-kassen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66928" y="4315968"/>
            <a:ext cx="11055096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4517136"/>
            <a:ext cx="10543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Materialet findes allerede på siden — det skal bare bytte plads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82896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Længere nede står „Certificerede rådgivere — hele vejen" og „Uanset om du køber din første bolig eller omlægger dit lån, får du en personlig boligrådgiver med dig hele vejen."  Det er niveau 1 og 2, skrevet rigtigt — men placeret under prisbudskabet. </a:t>
            </a:r>
            <a:pPr indent="0" marL="0">
              <a:lnSpc>
                <a:spcPct val="118000"/>
              </a:lnSpc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Rådgivning nævnes først ~1.400 px længere nede.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Forslag til hero: „Boligbeslutningen er den største, du træffer. Du skal ikke træffe den alene."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OG A4 · VÆSENTLIGE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Prisen står, hvor kundens situation skulle stå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32461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86384" y="1975104"/>
            <a:ext cx="2807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86384" y="258775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Sider med pris som H1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28620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Pris, bonus eller „bedst i test" som sidens primærbudskab.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087368" y="1828800"/>
            <a:ext cx="32461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06824" y="1975104"/>
            <a:ext cx="2807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306824" y="258775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Sider med bart produktnavn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306824" y="28620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af 12 kontosider, 3 af 4 kortsider.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07808" y="1828800"/>
            <a:ext cx="3246120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27264" y="1975104"/>
            <a:ext cx="28072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827264" y="2587752"/>
            <a:ext cx="28072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der taler til kunden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827264" y="2862072"/>
            <a:ext cx="2807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 72 af 418 overskrifter bruger du/dig/din.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" y="3657600"/>
            <a:ext cx="11055096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840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Eksempler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206240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„Billige lån"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48056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/laan/billige-laan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337304" y="4206240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„Bedst i test for 6. gang i træk!"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337304" y="448056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/laan/bedst-i-test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7851648" y="4206240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„Lån 100.000 kr. til en lav rente"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851648" y="448056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/laan/laan-100000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919472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„Budgetkonto"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193792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/konti/budgetkonto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4337304" y="4919472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„Mastercard Debet"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337304" y="5193792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/kort/mastercard-debet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7851648" y="4919472"/>
            <a:ext cx="3331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„NemKonto"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851648" y="5193792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/konti/nemkonto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Undtagelsen viser vejen: /konti/coop-konto hedder „Coop Konto. Gør hverdagen lidt lettere." — 22 sætninger retter hele mønsteret.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OG A10 · VÆSENTLIGE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Google taler banken med en anden stemme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9728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8060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Træk i de 418 sidetitler og metabeskrivelser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060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8060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Metabeskrivelser med dobbeltpilen 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24,4 %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Sidetitler med klik-/salgsmarkører („Klik her", „Ansøg nu", »)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Metabeskrivelser med udråbstegn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6,5 %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Metabeskrivelser med ✅-emoji som punktopstilling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Metabeskrivelser med prissignal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Metabeskrivelser der nævner rådgivning eller kontakt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2,6 %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744968" y="1828800"/>
            <a:ext cx="3913632" cy="2331720"/>
          </a:xfrm>
          <a:prstGeom prst="roundRect">
            <a:avLst>
              <a:gd name="adj" fmla="val 2353"/>
            </a:avLst>
          </a:prstGeom>
          <a:solidFill>
            <a:srgbClr val="55252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82712" y="201168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VÆRST: SIDEN FOR RKI-REGISTREREDE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982712" y="2340864"/>
            <a:ext cx="3438144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„…eller et lån med lav rente. Læs mere om de mange produkter i Coop Bank. Klik her!"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982712" y="3758184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Metabeskrivelse på /formularer/basal-konti-rki — og 5 andre sider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44968" y="4343400"/>
            <a:ext cx="39136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Basal Konto er en lovsikret ret. At markedsføre forbrugslån mod mennesker, der søger den, er ikke kun et brandbrud.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Titlen og beskrivelsen er den første tekst, kunden møder — i Google, før nogen har klikket.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A5 · VÆSENTLIG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Rådgiveren står i menuen — ikke i teksten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66928" y="1828800"/>
            <a:ext cx="411480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2011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60,5 %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27980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 af 418 sider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41248" y="3127248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nævner hverken rådgiver eller kontakt i sidens eget indhold. Den globale menu bærer nummeret — men det møder aldrig kunden dér, hvor beslutningen træffes.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01768" y="1883664"/>
            <a:ext cx="274320" cy="274320"/>
          </a:xfrm>
          <a:prstGeom prst="ellipse">
            <a:avLst/>
          </a:prstGeom>
          <a:solidFill>
            <a:srgbClr val="C4BEF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13248" y="1828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/bolig/boliglaan og /bolig/foraeldrekoeb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5413248" y="211226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Beslutninger i millionklassen — uden en rådgiver i teksten.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01768" y="2615184"/>
            <a:ext cx="274320" cy="274320"/>
          </a:xfrm>
          <a:prstGeom prst="ellipse">
            <a:avLst/>
          </a:prstGeom>
          <a:solidFill>
            <a:srgbClr val="C4BE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13248" y="256032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Alle 24 sider under /formularer/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5413248" y="284378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Dér hvor kunden faktisk handler.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01768" y="3346704"/>
            <a:ext cx="274320" cy="274320"/>
          </a:xfrm>
          <a:prstGeom prst="ellipse">
            <a:avLst/>
          </a:prstGeom>
          <a:solidFill>
            <a:srgbClr val="C4BE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13248" y="3291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/investering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13248" y="3575304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„Brug for hjælp? Spørg vores AI-assistent i appen." Telefonnummeret ligger i en FAQ langt nede.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11055096" cy="1417320"/>
          </a:xfrm>
          <a:prstGeom prst="roundRect">
            <a:avLst>
              <a:gd name="adj" fmla="val 3871"/>
            </a:avLst>
          </a:prstGeom>
          <a:solidFill>
            <a:srgbClr val="EDEBE3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04672" y="4407408"/>
            <a:ext cx="10579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KOMPONENTEN FINDES ALLEREDE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804672" y="4736592"/>
            <a:ext cx="105796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„Vores kundeservice står klar til at hjælpe dig. Tøv ikke med at kontakte os – vi er her for dig."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804672" y="5239512"/>
            <a:ext cx="10579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Står på alle 31 hjælpecentersider. Den skal blot rulles ud på bolig-, produkt- og formularsider.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3-beviset i budskabshierarkiet lyder: „Altid én rådgiver at ringe til."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A9 · KRITISK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Formularerne er ren datafangst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24 formularsider indlejrer et eksternt system. Sidens egen tekst er én linje — alt det, kunden faktisk læser, ligger inde i formularen.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3489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487168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Dødsbo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71216"/>
            <a:ext cx="301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„Afdødes navn", „Afdødes medlemsnummer". Eneste hele sætning: „…som bedes vedhæftet nedenfor." Ingen kondolence, intet telefonnummer.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9496" y="2286000"/>
            <a:ext cx="3489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87240" y="2487168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Basal Konto · RKI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87240" y="2871216"/>
            <a:ext cx="301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„Du hører fra os, når vi har behandlet sagen." „Såfremt ansøgningen bevilges…" Kunden mødes som sag, ikke som menneske.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2064" y="2286000"/>
            <a:ext cx="3489960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69808" y="2487168"/>
            <a:ext cx="301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Svindel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8369808" y="2871216"/>
            <a:ext cx="301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Navn · E-mail · CPR-nr. · Besked · Vedhæft fil, plus en GDPR-paragraf. Ingen anerkendelse, ingen hastevej.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66928" y="4480560"/>
            <a:ext cx="11055096" cy="1188720"/>
          </a:xfrm>
          <a:prstGeom prst="roundRect">
            <a:avLst>
              <a:gd name="adj" fmla="val 4615"/>
            </a:avLst>
          </a:prstGeom>
          <a:solidFill>
            <a:srgbClr val="55252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04672" y="4663440"/>
            <a:ext cx="10579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VOICE, SLIDE 8 — UNDTAGELSESFRI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804672" y="4992624"/>
            <a:ext cx="105796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„Det kræver, at vi aldrig lyder corporate eller distanceret, selv i lovpligtige tekster."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Formularen er handlingen. Det er dér, kunden afgiver sit CPR-nummer, melder svindel og gør et dødsbo op.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5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96596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40" kern="0" dirty="0">
                <a:solidFill>
                  <a:srgbClr val="C4B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37744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Designguiden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520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fund · 3 kritiske · målt i produktionens egen CSS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2103120"/>
            <a:ext cx="3749040" cy="2286000"/>
          </a:xfrm>
          <a:prstGeom prst="roundRect">
            <a:avLst>
              <a:gd name="adj" fmla="val 2400"/>
            </a:avLst>
          </a:prstGeom>
          <a:solidFill>
            <a:srgbClr val="3C1A21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101584" y="23317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FUNDAMENTET ER RIGTIGT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8101584" y="269748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Porteron er indlæst. Hele paletten findes som variabler. Logoet og navigationen stemmer med guidens eget web-eksempel.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Problemet er, hvad der bliver brugt.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OG B2 · KRITISKE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Palettens varme farver bruges ikke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737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GUIDENS 7 IDENTITETSFARVER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66928" y="2048256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C31414"/>
          </a:solidFill>
          <a:ln w="6350">
            <a:solidFill>
              <a:srgbClr val="D6CEC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6928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 Red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566928" y="2734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#c31414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65376" y="2048256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55252F"/>
          </a:solidFill>
          <a:ln w="6350">
            <a:solidFill>
              <a:srgbClr val="D6CE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865376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Bordeaux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1865376" y="2734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#55252f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63824" y="2048256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F6F5F1"/>
          </a:solidFill>
          <a:ln w="6350">
            <a:solidFill>
              <a:srgbClr val="D6CE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63824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Pampas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3163824" y="2734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#f6f5f1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462272" y="2048256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EDEBE3"/>
          </a:solidFill>
          <a:ln w="6350">
            <a:solidFill>
              <a:srgbClr val="D6CEC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62272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Satin Linen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4462272" y="2734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#edebe3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60720" y="2048256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C4BEF4"/>
          </a:solidFill>
          <a:ln w="6350">
            <a:solidFill>
              <a:srgbClr val="D6CEC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Lilla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2734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#c4bef4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7059168" y="2048256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779FFD"/>
          </a:solidFill>
          <a:ln w="6350">
            <a:solidFill>
              <a:srgbClr val="D6CEC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059168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Blå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2734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#779ffd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357616" y="2048256"/>
            <a:ext cx="1170432" cy="457200"/>
          </a:xfrm>
          <a:prstGeom prst="roundRect">
            <a:avLst>
              <a:gd name="adj" fmla="val 10000"/>
            </a:avLst>
          </a:prstGeom>
          <a:solidFill>
            <a:srgbClr val="63D78C"/>
          </a:solidFill>
          <a:ln w="6350">
            <a:solidFill>
              <a:srgbClr val="D6CEC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57616" y="2542032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Grøn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8357616" y="2734056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#63d78c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53812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3364992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0,6 %</a:t>
            </a:r>
            <a:endParaRPr lang="en-US" sz="4000" dirty="0"/>
          </a:p>
        </p:txBody>
      </p:sp>
      <p:sp>
        <p:nvSpPr>
          <p:cNvPr id="28" name="Text 26"/>
          <p:cNvSpPr txBox="1"/>
          <p:nvPr/>
        </p:nvSpPr>
        <p:spPr>
          <a:xfrm>
            <a:off x="2715768" y="3438144"/>
            <a:ext cx="29580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 teksten står i Coop Bordeaux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715768" y="3767328"/>
            <a:ext cx="29580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af 2.373 målte elementer, alle på forsiden. 59 % er ren sort. Guiden: „Farven på font er primært Coop Bourdeaux."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40780" y="3200400"/>
            <a:ext cx="5381244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96812" y="336499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314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32" name="Text 30"/>
          <p:cNvSpPr txBox="1"/>
          <p:nvPr/>
        </p:nvSpPr>
        <p:spPr>
          <a:xfrm>
            <a:off x="7456932" y="3438144"/>
            <a:ext cx="35981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flader i Pampas eller Satin Linen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456932" y="3767328"/>
            <a:ext cx="35981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Sitet står på hvid (382 flader) og kølig grå #f5f5f6 (206). Footeren bruger en klon af bordeaux, ikke farven selv.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66928" y="4681728"/>
            <a:ext cx="11055096" cy="1024128"/>
          </a:xfrm>
          <a:prstGeom prst="roundRect">
            <a:avLst>
              <a:gd name="adj" fmla="val 5357"/>
            </a:avLst>
          </a:prstGeom>
          <a:solidFill>
            <a:srgbClr val="EDEBE3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4864608"/>
            <a:ext cx="10579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GUIDENS UNDTAGELSE FOR WEB DÆKKER IKKE HER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04672" y="5193792"/>
            <a:ext cx="10579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i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Coop Bordeaux på hvid giver 12,41:1 og på Pampas 11,38:1 — begge langt over WCAG AAA. Der er ingen teknisk grund til sort.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 ni testede farvekombinationer redder guidens undtagelsesklausul kun én: hvid tekst på palettens grønne.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 · VÆSENTLIG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Guidens ene præcise formregel findes ikke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783080"/>
          <a:ext cx="6675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16368" y="1783080"/>
            <a:ext cx="4142232" cy="2286000"/>
          </a:xfrm>
          <a:prstGeom prst="roundRect">
            <a:avLst>
              <a:gd name="adj" fmla="val 2400"/>
            </a:avLst>
          </a:prstGeom>
          <a:solidFill>
            <a:srgbClr val="EDEBE3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54112" y="1965960"/>
            <a:ext cx="3666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GUIDELINES, S.3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7754112" y="2295144"/>
            <a:ext cx="3666744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i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„Billedbokse og farvede kasser har afrundede hjørner med en radius på 6 px."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54112" y="3666744"/>
            <a:ext cx="3666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Begrundelsen: „en mere imødekommende og venlig karakter"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516368" y="4251960"/>
            <a:ext cx="4142232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54112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Vær præcis på reglen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754112" y="473659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Ordlyden dækker „billedbokse og farvede kasser" — ikke knapper. Guidens egne eksempler viser pilleformede knapper, så de 32 px på knapper er i orden.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Forskellen på 6 px og 24 px er ikke kosmetisk: det er forskellen på guidens udtryk og et generisk moderne webudtryk.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B13 · KRITISK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Formularerne kører deres eget designsystem</a:t>
            </a:r>
            <a:endParaRPr lang="en-US" sz="3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828800"/>
          <a:ext cx="78638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017520"/>
                <a:gridCol w="30175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060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Designguiden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060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Formularsystemet (etrack1)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BE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Skrifttype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Porteron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3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Proxima Nova — i fire snit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Rød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#c31414 Coop Red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3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#be1011 og #cc0000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Grøn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#63d78c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3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#448a44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Lys flade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#f6f5f1 Coop Pampas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3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#f7f7f4 — en nær-dublet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Hjørneradius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C3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px (11 deklarationer)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Coop Bordeaux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5525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Primær skriftfarve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C31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forekomster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D3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750808" y="1828800"/>
            <a:ext cx="2907792" cy="2798064"/>
          </a:xfrm>
          <a:prstGeom prst="roundRect">
            <a:avLst>
              <a:gd name="adj" fmla="val 1961"/>
            </a:avLst>
          </a:prstGeom>
          <a:solidFill>
            <a:srgbClr val="55252F"/>
          </a:solidFill>
          <a:ln w="6350">
            <a:solidFill>
              <a:srgbClr val="55252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979408" y="20299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63D7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8979408" y="27432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formularsider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kontaktformularen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979408" y="340156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er den flade, hverken designguiden eller tone of voice-oplægget har været i nærheden af.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66928" y="4800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er ikke en afvigelse inden for systemet — det er en flade helt uden for det, på præcis de sider hvor kunden handler. Rettelsen er et afgrænset stykke arbejde uden for Webflow og kan laves parallelt med resten.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66928" y="63825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Kilde: system.etrack1.com/Formbuilder/CustomerStyleSheet.aspx — opsat specifikt for Coop Bank.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MODVÆGT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Det, resten af sitet kan rettes ind efter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revision, der kun opremser fejl, giver et forkert billede. Det følgende er de steder, hvor arbejdet allerede er gjort.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538124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DDD9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414016"/>
            <a:ext cx="310896" cy="310896"/>
          </a:xfrm>
          <a:prstGeom prst="ellipse">
            <a:avLst/>
          </a:prstGeom>
          <a:solidFill>
            <a:srgbClr val="63D78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2395728"/>
            <a:ext cx="4503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Forsidens stemme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670048"/>
            <a:ext cx="4503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„Vi tager os tid til at forstå din situation — ikke bare dit lån." Det er niveau 1, skrevet som det skal skrives.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40780" y="2212848"/>
            <a:ext cx="538124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DDD9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60236" y="2414016"/>
            <a:ext cx="310896" cy="310896"/>
          </a:xfrm>
          <a:prstGeom prst="ellipse">
            <a:avLst/>
          </a:prstGeom>
          <a:solidFill>
            <a:srgbClr val="63D78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0236" y="24140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880860" y="2395728"/>
            <a:ext cx="4503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Om Coop Bank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880860" y="2670048"/>
            <a:ext cx="4503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„Enkel i det digitale. Troværdig i det menneskelige." Positioneringen fra slide 7 i én sætning.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66928" y="3383280"/>
            <a:ext cx="538124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DDD9C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3584448"/>
            <a:ext cx="310896" cy="310896"/>
          </a:xfrm>
          <a:prstGeom prst="ellipse">
            <a:avLst/>
          </a:prstGeom>
          <a:solidFill>
            <a:srgbClr val="63D78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86384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3566160"/>
            <a:ext cx="4503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Kategorisidernes overskrifter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840480"/>
            <a:ext cx="4503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„Find lånet der passer til dig", „Find kontoen der passer til dit liv", „Hvordan kan vi hjælpe dig?"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40780" y="3383280"/>
            <a:ext cx="538124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DDD9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60236" y="3584448"/>
            <a:ext cx="310896" cy="310896"/>
          </a:xfrm>
          <a:prstGeom prst="ellipse">
            <a:avLst/>
          </a:prstGeom>
          <a:solidFill>
            <a:srgbClr val="63D78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0236" y="3584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880860" y="3566160"/>
            <a:ext cx="4503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Logo, navigation og Porteron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880860" y="3840480"/>
            <a:ext cx="4503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Hovedlogoet er korrekt, navigationen svarer til guidens web-eksempel, og overskrifter står i Semi, brødtekst i Regular.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" y="4553712"/>
            <a:ext cx="538124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DDD9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" y="4754880"/>
            <a:ext cx="310896" cy="310896"/>
          </a:xfrm>
          <a:prstGeom prst="ellipse">
            <a:avLst/>
          </a:prstGeom>
          <a:solidFill>
            <a:srgbClr val="63D78C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86384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207008" y="4736592"/>
            <a:ext cx="4503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Ordbogen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207008" y="5010912"/>
            <a:ext cx="4503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begrebssider der faktisk gør komplekse ting forståelige — sitets bedste opfyldelse af guidens krav.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40780" y="4553712"/>
            <a:ext cx="5381244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6350">
            <a:solidFill>
              <a:srgbClr val="DDD9C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60236" y="4754880"/>
            <a:ext cx="310896" cy="310896"/>
          </a:xfrm>
          <a:prstGeom prst="ellipse">
            <a:avLst/>
          </a:prstGeom>
          <a:solidFill>
            <a:srgbClr val="63D78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0236" y="4754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525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880860" y="4736592"/>
            <a:ext cx="45034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Billedstilen</a:t>
            </a:r>
            <a:endParaRPr lang="en-US" sz="1450" dirty="0"/>
          </a:p>
        </p:txBody>
      </p:sp>
      <p:sp>
        <p:nvSpPr>
          <p:cNvPr id="34" name="Text 32"/>
          <p:cNvSpPr txBox="1"/>
          <p:nvPr/>
        </p:nvSpPr>
        <p:spPr>
          <a:xfrm>
            <a:off x="6880860" y="5010912"/>
            <a:ext cx="45034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af de 14 mest brugte billeder rammer den varme, dokumentariske stil præcist.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HANDLINGSPLAN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94944"/>
            <a:ext cx="110550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Prioriteret efter effekt per time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69164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8060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Rækkefølgen følger ét princip: rettelser, der virker på alle 418 sider på én gang, kommer før rettelser, der skal laves side for side.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2240280"/>
            <a:ext cx="3489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468880"/>
            <a:ext cx="420624" cy="420624"/>
          </a:xfrm>
          <a:prstGeom prst="ellipse">
            <a:avLst/>
          </a:prstGeom>
          <a:solidFill>
            <a:srgbClr val="C314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2523744"/>
            <a:ext cx="2447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Systemrettelser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063240"/>
            <a:ext cx="2941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Sæt tekstfarven til Coop Bordeaux (B1)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 kølig grå ud med Satin Linen (B2)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Flyt forsidens knap-kode ind i systemet (B6)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grønnen og fjern bordeaux-klonen (B4, B14)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Opret 6 px-token til kasser (B3)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9496" y="2240280"/>
            <a:ext cx="3489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05528" y="2468880"/>
            <a:ext cx="420624" cy="420624"/>
          </a:xfrm>
          <a:prstGeom prst="ellipse">
            <a:avLst/>
          </a:prstGeom>
          <a:solidFill>
            <a:srgbClr val="55252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605528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135880" y="2523744"/>
            <a:ext cx="2447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Redaktionelle sprints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4623816" y="3063240"/>
            <a:ext cx="2941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/bolig-hero'en om (A1)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 de 22 produktnavne en kundesætning (A4)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Ryd klikmarkører ud af titler og beskrivelser (A3, A10)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„Regneeksempel" ind menneskeligt (A6)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formular-mikroteksten om (A9)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2064" y="2240280"/>
            <a:ext cx="3489960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DED3C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88096" y="2468880"/>
            <a:ext cx="420624" cy="420624"/>
          </a:xfrm>
          <a:prstGeom prst="ellipse">
            <a:avLst/>
          </a:prstGeom>
          <a:solidFill>
            <a:srgbClr val="8060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388096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918448" y="2523744"/>
            <a:ext cx="24475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52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Beslutninger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8406384" y="3063240"/>
            <a:ext cx="2941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 Red eller grøn som handlingsfarve? (B5)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 sub-brand-logoet, eller optag varianten (B7)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Byg infokassen som komponent (B8)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Skriv etrack1-stylesheetet om (B13)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552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komponenter til de semantiske tokens (B12)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5525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737360"/>
            <a:ext cx="11055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60" kern="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 SÆTNING AT TAGE MED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2240280"/>
            <a:ext cx="10424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Rådgivningen er skrevet.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6F5F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 er bare ikke placeret øverst.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3886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4A9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 samme gælder designet: hele paletten, skrifttypen og formsproget ligger klar i Webflow. De skal bare tages i brug som standard i stedet for som mulighed.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66928" y="4892040"/>
            <a:ext cx="11055096" cy="1005840"/>
          </a:xfrm>
          <a:prstGeom prst="roundRect">
            <a:avLst>
              <a:gd name="adj" fmla="val 5455"/>
            </a:avLst>
          </a:prstGeom>
          <a:solidFill>
            <a:srgbClr val="3C1A21"/>
          </a:solidFill>
          <a:ln w="9525">
            <a:solidFill>
              <a:srgbClr val="73434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41248" y="5138928"/>
            <a:ext cx="105064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6F5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 fulde rapport: 28 fund med kildecitat, måling og forslag · Bilag A med 255 verificerede tekststeder · alle måledata vedlagt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Brandrevision af coopbank.dk</dc:title>
  <dc:subject>PptxGenJS Presentation</dc:subject>
  <dc:creator>Brandrevision</dc:creator>
  <cp:lastModifiedBy>Brandrevision</cp:lastModifiedBy>
  <cp:revision>1</cp:revision>
  <dcterms:created xsi:type="dcterms:W3CDTF">2026-09-08T19:25:18Z</dcterms:created>
  <dcterms:modified xsi:type="dcterms:W3CDTF">2026-09-08T19:25:18Z</dcterms:modified>
</cp:coreProperties>
</file>